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Agentic RL 方法综述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以 Agent Lightning 为中心的相关工作、方法比较与实验路线</a:t>
            </a:r>
            <a:br/>
            <a:br/>
            <a:r>
              <a:rPr/>
              <a:t>EmoGame 技术调研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一句话结论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Agentic RL 的难点不是只选 PPO/GRPO，而是把真实 Agent 执行变成可学习、可追溯、可复现的多轮交互数据。</a:t>
            </a:r>
          </a:p>
          <a:p>
            <a:pPr lvl="0"/>
            <a:r>
              <a:rPr/>
              <a:t>Agent Lightning：训练–执行解耦、统一 trace 接口、分层信用分配</a:t>
            </a:r>
          </a:p>
          <a:p>
            <a:pPr lvl="0"/>
            <a:r>
              <a:rPr/>
              <a:t>关键变量：环境、奖励、轨迹归因、探索、优化器、可观测性</a:t>
            </a:r>
          </a:p>
          <a:p>
            <a:pPr lvl="0"/>
            <a:r>
              <a:rPr/>
              <a:t>目标：提高真实任务成功率，同时控制成本、风险和不可复现性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Agentic RL：交互闭环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任务 + 历史 + 工具观测
          ↓
      LLM policy
          ↓
推理 / 工具调用 / 委派 / 回答
          ↓
环境反馈 + verifier + reward
          ↓
轨迹切分与归因 → 策略更新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Agentic RL：状态、动作和目标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状态</a:t>
            </a:r>
            <a:r>
              <a:rPr/>
              <a:t>：任务、对话、记忆、工具返回、工作流位置</a:t>
            </a:r>
          </a:p>
          <a:p>
            <a:pPr lvl="0"/>
            <a:r>
              <a:rPr b="1"/>
              <a:t>动作</a:t>
            </a:r>
            <a:r>
              <a:rPr/>
              <a:t>：文本、工具参数、路由、子 Agent 委派、终止</a:t>
            </a:r>
          </a:p>
          <a:p>
            <a:pPr lvl="0"/>
            <a:r>
              <a:rPr b="1"/>
              <a:t>回报</a:t>
            </a:r>
            <a:r>
              <a:rPr/>
              <a:t>：结果正确性、执行验证、成本与安全约束</a:t>
            </a:r>
          </a:p>
          <a:p>
            <a:pPr lvl="0"/>
            <a:r>
              <a:rPr b="1"/>
              <a:t>目标</a:t>
            </a:r>
            <a:r>
              <a:rPr/>
              <a:t>：最大化验证后的累计回报，而非仅生成流畅文本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与相邻方法的边界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是否更新权重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是否真实多轮交互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在本调研中的角色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SFT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可选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冷启动 / 基线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Reflexion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文本记忆式自改进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单轮 reasoning RL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通常否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不足以代表 Agentic RL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Agentic RL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是或优化可训练资源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本报告重点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十篇代表工作：环境、搜索与课程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方法关键词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主要问题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WebGPT (2021)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浏览、示范、人类偏好反馈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证据支持的浏览问答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WebRL (2024)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自演化课程、ORM、在线 RL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任务稀缺、稀疏反馈、漂移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Search-R1 (2025)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多轮搜索、结果奖励、token masking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学习检索时机和查询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DeepResearcher (2025)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真实开放网络、端到端 RL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动态噪声环境中的研究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十篇代表工作：工具、多轮与系统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方法关键词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主要问题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ReTool (2025)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代码解释器、结果反馈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学习何时及如何调用工具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ToolRL (2025)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GRPO、细粒度奖励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工具选择、参数、格式归因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RAGEN (2025)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轨迹级多轮 RL、稳定性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长轨迹崩溃与探索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Lightning (2025)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trace、解耦、层级归因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训练任意既有 Agent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Agent-R1 (2025/26)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 transition、模块化接口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轨迹表示与上下文演化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Practitioner’s Guide (2025)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环境–奖励–策略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多轮 RL 实验配方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代表工作 I：环境与探索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WebGPT → WebRL → DeepResearcher</a:t>
            </a:r>
          </a:p>
          <a:p>
            <a:pPr lvl="0"/>
            <a:r>
              <a:rPr b="1"/>
              <a:t>WebGPT</a:t>
            </a:r>
            <a:r>
              <a:rPr/>
              <a:t>：浏览器 Agent + 人类示范/偏好反馈；要求引用支持回答。</a:t>
            </a:r>
          </a:p>
          <a:p>
            <a:pPr lvl="0"/>
            <a:r>
              <a:rPr b="1"/>
              <a:t>WebRL</a:t>
            </a:r>
            <a:r>
              <a:rPr/>
              <a:t>：从失败尝试自动产生新任务，以课程解决任务稀缺与在线漂移。</a:t>
            </a:r>
          </a:p>
          <a:p>
            <a:pPr lvl="0"/>
            <a:r>
              <a:rPr b="1"/>
              <a:t>DeepResearcher</a:t>
            </a:r>
            <a:r>
              <a:rPr/>
              <a:t>：在真实开放网络中训练，而非假定固定 RAG 语料充分。</a:t>
            </a:r>
          </a:p>
          <a:p>
            <a:pPr lvl="0" indent="0" marL="0">
              <a:buNone/>
            </a:pPr>
            <a:r>
              <a:rPr b="1"/>
              <a:t>判断</a:t>
            </a:r>
            <a:r>
              <a:rPr/>
              <a:t>：环境越真实，生态有效性越高；网页快照、失败码、工具版本和时间戳越不可缺少。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代表工作 II：学习工具调用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Search-R1、ReTool、ToolRL</a:t>
            </a:r>
          </a:p>
          <a:p>
            <a:pPr lvl="0"/>
            <a:r>
              <a:rPr b="1"/>
              <a:t>Search-R1</a:t>
            </a:r>
            <a:r>
              <a:rPr/>
              <a:t>：用 RL 学会何时生成哪些搜索查询，而不是将检索规则写死在 prompt。</a:t>
            </a:r>
          </a:p>
          <a:p>
            <a:pPr lvl="0"/>
            <a:r>
              <a:rPr b="1"/>
              <a:t>ReTool</a:t>
            </a:r>
            <a:r>
              <a:rPr/>
              <a:t>：让 outcome feedback 教会模型何时以及怎样调用代码解释器。</a:t>
            </a:r>
          </a:p>
          <a:p>
            <a:pPr lvl="0"/>
            <a:r>
              <a:rPr b="1"/>
              <a:t>ToolRL</a:t>
            </a:r>
            <a:r>
              <a:rPr/>
              <a:t>：将工具选择、参数、格式、正确性分解为更细的奖励，并以 GRPO 优化。</a:t>
            </a:r>
          </a:p>
          <a:p>
            <a:pPr lvl="0" indent="0" marL="0">
              <a:buNone/>
            </a:pPr>
            <a:r>
              <a:rPr b="1"/>
              <a:t>判断</a:t>
            </a:r>
            <a:r>
              <a:rPr/>
              <a:t>：工具调用是可学习动作；奖励既要定位错误，也要避免鼓励无意义的长推理或更多调用。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代表工作 III：多轮稳定性与归因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RAGEN / StarPO</a:t>
            </a:r>
          </a:p>
          <a:p>
            <a:pPr lvl="0"/>
            <a:r>
              <a:rPr/>
              <a:t>多轮 Agent RL 存在独特训练崩溃模式；单轮 PPO/GRPO 不能直接视为稳健解法。</a:t>
            </a:r>
          </a:p>
          <a:p>
            <a:pPr lvl="0"/>
            <a:r>
              <a:rPr/>
              <a:t>稳定化方向：高信息量轨迹筛选、critic、解耦 clipping、更多初始状态与任务多样性。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Agent-R1</a:t>
            </a:r>
          </a:p>
          <a:p>
            <a:pPr lvl="0"/>
            <a:r>
              <a:rPr/>
              <a:t>以 step-level transition 代替不断增长的单一 token 序列。</a:t>
            </a:r>
          </a:p>
          <a:p>
            <a:pPr lvl="0"/>
            <a:r>
              <a:rPr/>
              <a:t>分离 workflow、environment、optimization，使上下文演化可被显式建模。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Lightning：四层方法分解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层级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价值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执行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保持既有 Agent 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减少为 RL 重写业务逻辑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统一采集 LLM/tool/workflow events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将异构执行转为可训练 trace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算法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LightningRL + credit assignment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切分复杂工作流并分配回报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Training–Agent Disaggregation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runner、store、trainer 独立演化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Lightning：它解决的系统问题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既有 Agent 可以继续使用 LangChain、OpenAI Agents SDK、AutoGen 或自定义框架。</a:t>
            </a:r>
          </a:p>
          <a:p>
            <a:pPr lvl="0"/>
            <a:r>
              <a:rPr/>
              <a:t>运行时采集 LLM 调用、工具调用、观测、资源更新和终止事件。</a:t>
            </a:r>
          </a:p>
          <a:p>
            <a:pPr lvl="0"/>
            <a:r>
              <a:rPr/>
              <a:t>训练器读取 trace，更新模型权重、提示词或其他可训练资源。</a:t>
            </a:r>
          </a:p>
          <a:p>
            <a:pPr lvl="0"/>
            <a:r>
              <a:rPr/>
              <a:t>核心问题是 </a:t>
            </a:r>
            <a:r>
              <a:rPr b="1"/>
              <a:t>如何训练任意 Agent</a:t>
            </a:r>
            <a:r>
              <a:rPr/>
              <a:t>，而不是只优化某个固定 benchmark。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Lightning 与相邻方法的分工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Lightning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Agent-R1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ToolRL / ReTool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WebRL / DeepResearcher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主贡献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解耦与层级归因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 轨迹表示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工具策略与奖励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环境与课程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主要对象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既有 Agent / 局部组件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多轮交互框架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单工具或工具链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网页研究 Agent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主要风险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trace 语义不全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 切分失真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proxy reward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环境非平稳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可审计 trace：最小字段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任务与 policy、prompt、tool、workflow 版本</a:t>
            </a:r>
          </a:p>
          <a:p>
            <a:pPr lvl="0"/>
            <a:r>
              <a:rPr/>
              <a:t>动作前状态、子 Agent、采样参数与动作内容</a:t>
            </a:r>
          </a:p>
          <a:p>
            <a:pPr lvl="0"/>
            <a:r>
              <a:rPr/>
              <a:t>工具名称、参数、返回、异常与时间戳</a:t>
            </a:r>
          </a:p>
          <a:p>
            <a:pPr lvl="0"/>
            <a:r>
              <a:rPr/>
              <a:t>终止原因、验证器版本、总奖励与局部奖励来源</a:t>
            </a:r>
          </a:p>
          <a:p>
            <a:pPr lvl="0"/>
            <a:r>
              <a:rPr/>
              <a:t>数据过滤、选择或重放规则</a:t>
            </a:r>
          </a:p>
          <a:p>
            <a:pPr lvl="0" indent="0" marL="0">
              <a:buNone/>
            </a:pPr>
            <a:r>
              <a:rPr b="1"/>
              <a:t>没有这些字段，就无法区分模型提升、工具变化、prompt 漂移或奖励器变化。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奖励设计：优先级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可执行的端到端 verifier</a:t>
            </a:r>
          </a:p>
          <a:p>
            <a:pPr lvl="0" indent="-342900" marL="342900">
              <a:buAutoNum type="arabicPeriod"/>
            </a:pPr>
            <a:r>
              <a:rPr/>
              <a:t>无效调用、超预算、无证据引用和安全违规的惩罚</a:t>
            </a:r>
          </a:p>
          <a:p>
            <a:pPr lvl="0" indent="-342900" marL="342900">
              <a:buAutoNum type="arabicPeriod"/>
            </a:pPr>
            <a:r>
              <a:rPr/>
              <a:t>仅保留已证明与任务成功相关的 shaping reward</a:t>
            </a:r>
          </a:p>
          <a:p>
            <a:pPr lvl="0" indent="-342900" marL="342900">
              <a:buAutoNum type="arabicPeriod"/>
            </a:pPr>
            <a:r>
              <a:rPr/>
              <a:t>用独立 hold-out 评测，而非复用训练奖励器</a:t>
            </a:r>
          </a:p>
          <a:p>
            <a:pPr lvl="0" indent="0" marL="0">
              <a:buNone/>
            </a:pPr>
            <a:r>
              <a:rPr b="1"/>
              <a:t>原则</a:t>
            </a:r>
            <a:r>
              <a:rPr/>
              <a:t>：最终正确性便宜但稀疏；dense reward 有用但可能被投机优化。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尚未解决的问题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Reward hacking 与用户价值的规格错配</a:t>
            </a:r>
          </a:p>
          <a:p>
            <a:pPr lvl="0" indent="-342900" marL="342900">
              <a:buAutoNum type="arabicPeriod"/>
            </a:pPr>
            <a:r>
              <a:rPr/>
              <a:t>网页、模型和工具 API 的非平稳性</a:t>
            </a:r>
          </a:p>
          <a:p>
            <a:pPr lvl="0" indent="-342900" marL="342900">
              <a:buAutoNum type="arabicPeriod"/>
            </a:pPr>
            <a:r>
              <a:rPr/>
              <a:t>旧 trace 的离策略偏差与 prompt/tool schema 漂移</a:t>
            </a:r>
          </a:p>
          <a:p>
            <a:pPr lvl="0" indent="-342900" marL="342900">
              <a:buAutoNum type="arabicPeriod"/>
            </a:pPr>
            <a:r>
              <a:rPr/>
              <a:t>多 Agent 间的因果信用分配</a:t>
            </a:r>
          </a:p>
          <a:p>
            <a:pPr lvl="0" indent="-342900" marL="342900">
              <a:buAutoNum type="arabicPeriod"/>
            </a:pPr>
            <a:r>
              <a:rPr/>
              <a:t>成功率之外的成本、延迟、失败严重度与安全评测</a:t>
            </a:r>
          </a:p>
          <a:p>
            <a:pPr lvl="0" indent="-342900" marL="342900">
              <a:buAutoNum type="arabicPeriod"/>
            </a:pPr>
            <a:r>
              <a:rPr/>
              <a:t>从特定 benchmark 到跨环境泛化的证据不足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最小可证伪实验路线：准备与基线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先加 trace，确保工具调用与奖励可重放。</a:t>
            </a:r>
          </a:p>
          <a:p>
            <a:pPr lvl="0" indent="-342900" marL="342900">
              <a:buAutoNum type="arabicPeriod"/>
            </a:pPr>
            <a:r>
              <a:rPr/>
              <a:t>选择单一、低风险、可执行验证的子任务。</a:t>
            </a:r>
          </a:p>
          <a:p>
            <a:pPr lvl="0" indent="-342900" marL="342900">
              <a:buAutoNum type="arabicPeriod"/>
            </a:pPr>
            <a:r>
              <a:rPr/>
              <a:t>对齐 scaffold 与预算，比较 prompt-only、SFT-only、RL。</a:t>
            </a:r>
          </a:p>
          <a:p>
            <a:pPr lvl="0" indent="-342900" marL="342900">
              <a:buAutoNum type="arabicPeriod"/>
            </a:pPr>
            <a:r>
              <a:rPr/>
              <a:t>初版使用端到端验证奖励 + 无效调用/成本惩罚。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最小可证伪实验路线：上线前验证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先 offline sandbox，再逐步连接外部服务。</a:t>
            </a:r>
          </a:p>
          <a:p>
            <a:pPr lvl="0" indent="-342900" marL="342900">
              <a:buAutoNum startAt="5" type="arabicPeriod"/>
            </a:pPr>
            <a:r>
              <a:rPr/>
              <a:t>报告成功、证据质量、token、调用数、成本、失败类型、置信区间。</a:t>
            </a:r>
          </a:p>
          <a:p>
            <a:pPr lvl="0" indent="-342900" marL="342900">
              <a:buAutoNum startAt="5" type="arabicPeriod"/>
            </a:pPr>
            <a:r>
              <a:rPr/>
              <a:t>在新 schema、更长轨迹、受扰动观测和成本上限下测试。</a:t>
            </a:r>
          </a:p>
          <a:p>
            <a:pPr lvl="0" indent="-342900" marL="342900">
              <a:buAutoNum startAt="5" type="arabicPeriod"/>
            </a:pPr>
            <a:r>
              <a:rPr/>
              <a:t>多 Agent 先逐角色优化，后做联合训练。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推荐阅读顺序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WebGPT</a:t>
            </a:r>
            <a:r>
              <a:rPr/>
              <a:t>：浏览 Agent 与人类反馈的起点</a:t>
            </a:r>
          </a:p>
          <a:p>
            <a:pPr lvl="0" indent="-342900" marL="342900">
              <a:buAutoNum type="arabicPeriod"/>
            </a:pPr>
            <a:r>
              <a:rPr b="1"/>
              <a:t>ToolRL / ReTool / Search-R1</a:t>
            </a:r>
            <a:r>
              <a:rPr/>
              <a:t>：工具调用、奖励与训练单位</a:t>
            </a:r>
          </a:p>
          <a:p>
            <a:pPr lvl="0" indent="-342900" marL="342900">
              <a:buAutoNum type="arabicPeriod"/>
            </a:pPr>
            <a:r>
              <a:rPr b="1"/>
              <a:t>RAGEN</a:t>
            </a:r>
            <a:r>
              <a:rPr/>
              <a:t>：多轮稳定性与 rollout 多样性</a:t>
            </a:r>
          </a:p>
          <a:p>
            <a:pPr lvl="0" indent="-342900" marL="342900">
              <a:buAutoNum type="arabicPeriod"/>
            </a:pPr>
            <a:r>
              <a:rPr b="1"/>
              <a:t>Agent Lightning + Agent-R1</a:t>
            </a:r>
            <a:r>
              <a:rPr/>
              <a:t>：训练接口、轨迹表示、信用分配</a:t>
            </a:r>
          </a:p>
          <a:p>
            <a:pPr lvl="0" indent="-342900" marL="342900">
              <a:buAutoNum type="arabicPeriod"/>
            </a:pPr>
            <a:r>
              <a:rPr b="1"/>
              <a:t>WebRL / DeepResearcher / Practitioner’s Guide</a:t>
            </a:r>
            <a:r>
              <a:rPr/>
              <a:t>：课程、真实环境、实验调参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WebGPT — arXiv:2112.09332; WebRL — arXiv:2411.02337</a:t>
            </a:r>
          </a:p>
          <a:p>
            <a:pPr lvl="0"/>
            <a:r>
              <a:rPr/>
              <a:t>Search-R1 — arXiv:2503.09516; DeepResearcher — arXiv:2504.03160</a:t>
            </a:r>
          </a:p>
          <a:p>
            <a:pPr lvl="0"/>
            <a:r>
              <a:rPr/>
              <a:t>ReTool — arXiv:2504.11536; ToolRL — arXiv:2504.13958</a:t>
            </a:r>
          </a:p>
          <a:p>
            <a:pPr lvl="0"/>
            <a:r>
              <a:rPr/>
              <a:t>RAGEN — arXiv:2504.20073; Agent Lightning — arXiv:2508.03680</a:t>
            </a:r>
          </a:p>
          <a:p>
            <a:pPr lvl="0"/>
            <a:r>
              <a:rPr/>
              <a:t>Agent-R1 — arXiv:2511.14460; Practitioner’s Guide — arXiv:2510.01132</a:t>
            </a:r>
          </a:p>
          <a:p>
            <a:pPr lvl="0"/>
            <a:r>
              <a:rPr/>
              <a:t>Related baselines: Reflexion (NeurIPS 2023); Agent-R — arXiv:2501.11425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RL 方法综述</dc:title>
  <dc:creator>EmoGame 技术调研</dc:creator>
  <cp:keywords/>
  <dcterms:created xsi:type="dcterms:W3CDTF">2026-08-26T17:40:25Z</dcterms:created>
  <dcterms:modified xsi:type="dcterms:W3CDTF">2026-08-26T17:40:25Z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2026-08-27</vt:lpwstr>
  </property>
  <property fmtid="{D5CDD505-2E9C-101B-9397-08002B2CF9AE}" pid="3" name="subtitle">
    <vt:lpwstr>以 Agent Lightning 为中心的相关工作、方法比较与实验路线</vt:lpwstr>
  </property>
</Properties>
</file>